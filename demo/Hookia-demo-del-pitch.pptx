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arrancar: la app abierta en otra pestaña, ya analizada con tu cuenta, y Editar video con las tomas elegidas (sin tocar “Armar mi reel” todavía). Esta slide queda mientras se acomodan. Paul arranca la escena mirando el celular, frustrado.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P: Che, estoy podrido. Subo contenido todos los días y no crezco. A: ¿Y qué estás haciendo? P: Adivino. Copio lo que veo que anda. Pensé en pagarle a un community manager, pero no entiende lo mío. (20 segundos)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A: ¿No probaste Hookia?</a:t>
            </a:r>
          </a:p>
          <a:p>
            <a:r>
              <a:t>P: ¿Qué es Hookia?</a:t>
            </a:r>
          </a:p>
          <a:p>
            <a:r>
              <a:t>A: Un coach de Instagram con IA. Pasame tus tomas, que mientras te cuento te edito un video.</a:t>
            </a:r>
          </a:p>
          <a:p/>
          <a:p>
            <a:r>
              <a:t>(A va a la pestaña de Editar video, toca “Armar mi reel” y vuelve a las slides. Con 4 tomas cortas tardó alrededor de un minuto: probalo antes con las mismas tomas para saber cuánto tarda. El resultado se muestra al final.)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A: Conectás tu Instagram y listo: te analiza todo solo, de a una sección. P: ¿Todo? ¿Y yo qué hago? A: Nada. Seguís con lo tuyo y te va avisando. (15 segundos. La animación de la derecha muestra cómo avanza el análisis en la app.)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A: Le pone nota a tu perfil, sobre 100, y te reescribe la bio para que la copies y la pegues. P: ¿Y si lo vuelvo a analizar me da otra nota? A: No. La nota la suma el código con 12 criterios: solo cambia si cambiás algo del perfil, y te dice qué. (15 segundos. A la derecha corre el clip real de la app: el análisis arrancando y la nota en Inicio.)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P: Pará, ¿y mis números? A: Te dice cuáles importan de verdad: si tu gancho engancha, si te miran hasta el final, si te guardan y si te compran. Con semáforo. A: Y a qué hora publicar: una hora antes de que se conecten tus seguidores. (15 segundos. A la derecha corre el clip real de la app.)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P: ¿Y por qué mis reels no explotan? A: Mira cada reel segundo a segundo: dónde se fue la gente, por qué, y qué cambiar en el próximo. (15 segundos. A la derecha corre el clip real de la app.)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P: Ok, ¿pero qué publico? A: Busca lo que está pegando esta semana en tu nicho y te muestra cuántas veces le fue mejor que su promedio. Ese número lo calcula el código, no lo inventa la IA. (15 segundos. A la derecha corre el clip real de la app.)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P: ¿Y si no tengo tiempo de buscar? A: Todos los días a las 7 te deja lo que pasó en tu nicho y qué podés publicar hoy, aunque no abras la app. (15 segundos. A la derecha corre el clip real de la app.)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P: Yo quiero vender, no likes. A: Por eso te arma el contenido como un embudo: atraer, que confíen en vos y vender. (15 segundos. A la derecha corre el clip real de la app.)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P: ¿Y el guion también? A: Te escribe tres ganchos, lo que decís a cámara y el caption, con tu forma de hablar. (15 segundos. La ventana es un ejemplo de cómo se ve el resultado.)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P: Bueno, pero editar me lleva horas. A: También te lo edita. ¿Te acordás de tus tomas? Mirá. (A cambia a la app: el reel ya está listo. Le da play.) P: Sí, sí, obvio. (30 segundos con el video) Plan B: si la edición no terminó o falla, mostrar un reel que editamos antes (tenerlo descargado en la compu).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(al jurado): No es un chat con Claude. Son 10 agentes y cada uno tiene su propia investigación, con fuentes, que lleva en cada respuesta.</a:t>
            </a:r>
          </a:p>
          <a:p>
            <a:r>
              <a:t>Estos cinco analizan tu cuenta:</a:t>
            </a:r>
          </a:p>
          <a:p>
            <a:r>
              <a:t>- Coach: encuentra lo que te frena y arma un plan que puedas sostener.</a:t>
            </a:r>
          </a:p>
          <a:p>
            <a:r>
              <a:t>- Analista de perfil: que una visita al perfil se vuelva seguidor; sabe que Instagram y Google leen tu nombre y tu bio.</a:t>
            </a:r>
          </a:p>
          <a:p>
            <a:r>
              <a:t>- Analista de métricas: te compara con tu propia mediana, como se mide bien en cuentas chicas.</a:t>
            </a:r>
          </a:p>
          <a:p>
            <a:r>
              <a:t>- Analista de reels: la curva de retención; tu salteo en los primeros 3 segundos contra el de tu cuenta.</a:t>
            </a:r>
          </a:p>
          <a:p>
            <a:r>
              <a:t>- Analista de competencia: qué tomar de otros sin copiar, porque desde abril de 2026 Instagram deja de recomendar a quien copia.</a:t>
            </a:r>
          </a:p>
          <a:p/>
          <a:p>
            <a:r>
              <a:t>(15 segundos: nombrar 2 o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(al jurado): Estos cinco crean y venden:</a:t>
            </a:r>
          </a:p>
          <a:p>
            <a:r>
              <a:t>- Cazador de tendencias: busca lo que pega en tu nicho, lo compara con la mediana de cada cuenta y sabe por qué se comparte.</a:t>
            </a:r>
          </a:p>
          <a:p>
            <a:r>
              <a:t>- Radar del nicho: todos los días a las 7, la novedad del día y el calendario comercial de tu país.</a:t>
            </a:r>
          </a:p>
          <a:p>
            <a:r>
              <a:t>- Guionista: ganchos que abren curiosidad sin clickbait, escritos para decirlos a cámara.</a:t>
            </a:r>
          </a:p>
          <a:p>
            <a:r>
              <a:t>- Estratega: arma el embudo para cerrar por WhatsApp, que es donde se vende en Latinoamérica.</a:t>
            </a:r>
          </a:p>
          <a:p>
            <a:r>
              <a:t>- Editor: edición de videos con un método probado en 25 reels, con auditoría antes de entregar.</a:t>
            </a:r>
          </a:p>
          <a:p>
            <a:r>
              <a:t>Más de 600 fuentes en total. Y los números no los inventan: los calcula el código.</a:t>
            </a:r>
          </a:p>
          <a:p/>
          <a:p>
            <a:r>
              <a:t>(15 segundos: nombrar 2 o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P: Hookia. Para la persona que sabe mucho de lo suyo y no sabe cómo mostrarlo en Instagram. A: Pásennos una cuenta y la analizamos ahora. (10 segundos. En total, unos 3 minutos y medio.)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microsoft.com/office/2007/relationships/media" Target="../media/media1.mp4"/><Relationship Id="rId7" Type="http://schemas.openxmlformats.org/officeDocument/2006/relationships/video" Target="../media/media1.mp4"/><Relationship Id="rId8" Type="http://schemas.openxmlformats.org/officeDocument/2006/relationships/image" Target="../media/image8.png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microsoft.com/office/2007/relationships/media" Target="../media/media2.mp4"/><Relationship Id="rId7" Type="http://schemas.openxmlformats.org/officeDocument/2006/relationships/video" Target="../media/media2.mp4"/><Relationship Id="rId8" Type="http://schemas.openxmlformats.org/officeDocument/2006/relationships/image" Target="../media/image13.jpg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microsoft.com/office/2007/relationships/media" Target="../media/media3.mp4"/><Relationship Id="rId7" Type="http://schemas.openxmlformats.org/officeDocument/2006/relationships/video" Target="../media/media3.mp4"/><Relationship Id="rId8" Type="http://schemas.openxmlformats.org/officeDocument/2006/relationships/image" Target="../media/image18.jpg"/><Relationship Id="rI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microsoft.com/office/2007/relationships/media" Target="../media/media4.mp4"/><Relationship Id="rId7" Type="http://schemas.openxmlformats.org/officeDocument/2006/relationships/video" Target="../media/media4.mp4"/><Relationship Id="rId8" Type="http://schemas.openxmlformats.org/officeDocument/2006/relationships/image" Target="../media/image23.jpg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microsoft.com/office/2007/relationships/media" Target="../media/media5.mp4"/><Relationship Id="rId7" Type="http://schemas.openxmlformats.org/officeDocument/2006/relationships/video" Target="../media/media5.mp4"/><Relationship Id="rId8" Type="http://schemas.openxmlformats.org/officeDocument/2006/relationships/image" Target="../media/image28.jpg"/><Relationship Id="rId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microsoft.com/office/2007/relationships/media" Target="../media/media6.mp4"/><Relationship Id="rId7" Type="http://schemas.openxmlformats.org/officeDocument/2006/relationships/video" Target="../media/media6.mp4"/><Relationship Id="rId8" Type="http://schemas.openxmlformats.org/officeDocument/2006/relationships/image" Target="../media/image33.jpg"/><Relationship Id="rId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microsoft.com/office/2007/relationships/media" Target="../media/media7.mp4"/><Relationship Id="rId7" Type="http://schemas.openxmlformats.org/officeDocument/2006/relationships/video" Target="../media/media7.mp4"/><Relationship Id="rId8" Type="http://schemas.openxmlformats.org/officeDocument/2006/relationships/image" Target="../media/image38.jpg"/><Relationship Id="rId9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microsoft.com/office/2007/relationships/media" Target="../media/media8.mp4"/><Relationship Id="rId9" Type="http://schemas.openxmlformats.org/officeDocument/2006/relationships/video" Target="../media/media8.mp4"/><Relationship Id="rId10" Type="http://schemas.openxmlformats.org/officeDocument/2006/relationships/image" Target="../media/image54.png"/><Relationship Id="rId11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sitiva" descr="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sitiva" descr="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sitiva" descr="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sitiva" descr="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ntra 1" descr="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1092200"/>
            <a:ext cx="5384800" cy="1708150"/>
          </a:xfrm>
          <a:prstGeom prst="rect">
            <a:avLst/>
          </a:prstGeom>
        </p:spPr>
      </p:pic>
      <p:pic>
        <p:nvPicPr>
          <p:cNvPr id="4" name="Entra 2" descr="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" y="2616200"/>
            <a:ext cx="5384800" cy="1397000"/>
          </a:xfrm>
          <a:prstGeom prst="rect">
            <a:avLst/>
          </a:prstGeom>
        </p:spPr>
      </p:pic>
      <p:pic>
        <p:nvPicPr>
          <p:cNvPr id="5" name="Entra 3" descr="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00" y="3810000"/>
            <a:ext cx="4978400" cy="1644650"/>
          </a:xfrm>
          <a:prstGeom prst="rect">
            <a:avLst/>
          </a:prstGeom>
        </p:spPr>
      </p:pic>
      <p:pic>
        <p:nvPicPr>
          <p:cNvPr id="6" name="Video embed0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943600" y="1409700"/>
            <a:ext cx="5283200" cy="4267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2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sitiva" descr="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ntra 1" descr="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1092200"/>
            <a:ext cx="5181600" cy="1708150"/>
          </a:xfrm>
          <a:prstGeom prst="rect">
            <a:avLst/>
          </a:prstGeom>
        </p:spPr>
      </p:pic>
      <p:pic>
        <p:nvPicPr>
          <p:cNvPr id="4" name="Entra 2" descr="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" y="2616200"/>
            <a:ext cx="5181600" cy="1397000"/>
          </a:xfrm>
          <a:prstGeom prst="rect">
            <a:avLst/>
          </a:prstGeom>
        </p:spPr>
      </p:pic>
      <p:pic>
        <p:nvPicPr>
          <p:cNvPr id="5" name="Entra 3" descr="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00" y="3810000"/>
            <a:ext cx="4775200" cy="1879600"/>
          </a:xfrm>
          <a:prstGeom prst="rect">
            <a:avLst/>
          </a:prstGeom>
        </p:spPr>
      </p:pic>
      <p:pic>
        <p:nvPicPr>
          <p:cNvPr id="6" name="Video perfil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740400" y="1968500"/>
            <a:ext cx="5486400" cy="3136900"/>
          </a:xfrm>
          <a:prstGeom prst="roundRect">
            <a:avLst>
              <a:gd name="adj" fmla="val 2834"/>
            </a:avLst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2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sitiva" descr="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ntra 1" descr="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1092200"/>
            <a:ext cx="5181600" cy="1708150"/>
          </a:xfrm>
          <a:prstGeom prst="rect">
            <a:avLst/>
          </a:prstGeom>
        </p:spPr>
      </p:pic>
      <p:pic>
        <p:nvPicPr>
          <p:cNvPr id="4" name="Entra 2" descr="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" y="2616200"/>
            <a:ext cx="5181600" cy="1689100"/>
          </a:xfrm>
          <a:prstGeom prst="rect">
            <a:avLst/>
          </a:prstGeom>
        </p:spPr>
      </p:pic>
      <p:pic>
        <p:nvPicPr>
          <p:cNvPr id="5" name="Entra 3" descr="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00" y="3810000"/>
            <a:ext cx="4775200" cy="1879600"/>
          </a:xfrm>
          <a:prstGeom prst="rect">
            <a:avLst/>
          </a:prstGeom>
        </p:spPr>
      </p:pic>
      <p:pic>
        <p:nvPicPr>
          <p:cNvPr id="6" name="Video metricas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740400" y="1968500"/>
            <a:ext cx="5486400" cy="3136900"/>
          </a:xfrm>
          <a:prstGeom prst="roundRect">
            <a:avLst>
              <a:gd name="adj" fmla="val 2834"/>
            </a:avLst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5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2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sitiva" descr="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ntra 1" descr="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1092200"/>
            <a:ext cx="5181600" cy="1708150"/>
          </a:xfrm>
          <a:prstGeom prst="rect">
            <a:avLst/>
          </a:prstGeom>
        </p:spPr>
      </p:pic>
      <p:pic>
        <p:nvPicPr>
          <p:cNvPr id="4" name="Entra 2" descr="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" y="2616200"/>
            <a:ext cx="5181600" cy="1397000"/>
          </a:xfrm>
          <a:prstGeom prst="rect">
            <a:avLst/>
          </a:prstGeom>
        </p:spPr>
      </p:pic>
      <p:pic>
        <p:nvPicPr>
          <p:cNvPr id="5" name="Entra 3" descr="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00" y="3810000"/>
            <a:ext cx="4775200" cy="1644650"/>
          </a:xfrm>
          <a:prstGeom prst="rect">
            <a:avLst/>
          </a:prstGeom>
        </p:spPr>
      </p:pic>
      <p:pic>
        <p:nvPicPr>
          <p:cNvPr id="6" name="Video reels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740400" y="1968500"/>
            <a:ext cx="5486400" cy="3136900"/>
          </a:xfrm>
          <a:prstGeom prst="roundRect">
            <a:avLst>
              <a:gd name="adj" fmla="val 2834"/>
            </a:avLst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8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2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sitiva" descr="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ntra 1" descr="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1092200"/>
            <a:ext cx="5181600" cy="1708150"/>
          </a:xfrm>
          <a:prstGeom prst="rect">
            <a:avLst/>
          </a:prstGeom>
        </p:spPr>
      </p:pic>
      <p:pic>
        <p:nvPicPr>
          <p:cNvPr id="4" name="Entra 2" descr="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" y="2616200"/>
            <a:ext cx="5181600" cy="1397000"/>
          </a:xfrm>
          <a:prstGeom prst="rect">
            <a:avLst/>
          </a:prstGeom>
        </p:spPr>
      </p:pic>
      <p:pic>
        <p:nvPicPr>
          <p:cNvPr id="5" name="Entra 3" descr="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00" y="3810000"/>
            <a:ext cx="4775200" cy="1879600"/>
          </a:xfrm>
          <a:prstGeom prst="rect">
            <a:avLst/>
          </a:prstGeom>
        </p:spPr>
      </p:pic>
      <p:pic>
        <p:nvPicPr>
          <p:cNvPr id="6" name="Video ideas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740400" y="1968500"/>
            <a:ext cx="5486400" cy="3136900"/>
          </a:xfrm>
          <a:prstGeom prst="roundRect">
            <a:avLst>
              <a:gd name="adj" fmla="val 2834"/>
            </a:avLst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9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2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sitiva" descr="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ntra 1" descr="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1092200"/>
            <a:ext cx="5181600" cy="1708150"/>
          </a:xfrm>
          <a:prstGeom prst="rect">
            <a:avLst/>
          </a:prstGeom>
        </p:spPr>
      </p:pic>
      <p:pic>
        <p:nvPicPr>
          <p:cNvPr id="4" name="Entra 2" descr="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" y="2616200"/>
            <a:ext cx="5181600" cy="1397000"/>
          </a:xfrm>
          <a:prstGeom prst="rect">
            <a:avLst/>
          </a:prstGeom>
        </p:spPr>
      </p:pic>
      <p:pic>
        <p:nvPicPr>
          <p:cNvPr id="5" name="Entra 3" descr="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00" y="3810000"/>
            <a:ext cx="4775200" cy="1644650"/>
          </a:xfrm>
          <a:prstGeom prst="rect">
            <a:avLst/>
          </a:prstGeom>
        </p:spPr>
      </p:pic>
      <p:pic>
        <p:nvPicPr>
          <p:cNvPr id="6" name="Video novedades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740400" y="1968500"/>
            <a:ext cx="5486400" cy="3136900"/>
          </a:xfrm>
          <a:prstGeom prst="roundRect">
            <a:avLst>
              <a:gd name="adj" fmla="val 2834"/>
            </a:avLst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2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sitiva" descr="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ntra 1" descr="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1092200"/>
            <a:ext cx="5181600" cy="2159000"/>
          </a:xfrm>
          <a:prstGeom prst="rect">
            <a:avLst/>
          </a:prstGeom>
        </p:spPr>
      </p:pic>
      <p:pic>
        <p:nvPicPr>
          <p:cNvPr id="4" name="Entra 2" descr="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" y="2616200"/>
            <a:ext cx="5181600" cy="1397000"/>
          </a:xfrm>
          <a:prstGeom prst="rect">
            <a:avLst/>
          </a:prstGeom>
        </p:spPr>
      </p:pic>
      <p:pic>
        <p:nvPicPr>
          <p:cNvPr id="5" name="Entra 3" descr="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00" y="3810000"/>
            <a:ext cx="4775200" cy="1644650"/>
          </a:xfrm>
          <a:prstGeom prst="rect">
            <a:avLst/>
          </a:prstGeom>
        </p:spPr>
      </p:pic>
      <p:pic>
        <p:nvPicPr>
          <p:cNvPr id="6" name="Video estrategia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740400" y="1968500"/>
            <a:ext cx="5486400" cy="3136900"/>
          </a:xfrm>
          <a:prstGeom prst="roundRect">
            <a:avLst>
              <a:gd name="adj" fmla="val 2834"/>
            </a:avLst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1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2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sitiva" descr="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ntra 1" descr="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1092200"/>
            <a:ext cx="5384800" cy="1708150"/>
          </a:xfrm>
          <a:prstGeom prst="rect">
            <a:avLst/>
          </a:prstGeom>
        </p:spPr>
      </p:pic>
      <p:pic>
        <p:nvPicPr>
          <p:cNvPr id="4" name="Entra 2" descr="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" y="2616200"/>
            <a:ext cx="5384800" cy="1397000"/>
          </a:xfrm>
          <a:prstGeom prst="rect">
            <a:avLst/>
          </a:prstGeom>
        </p:spPr>
      </p:pic>
      <p:pic>
        <p:nvPicPr>
          <p:cNvPr id="5" name="Entra 3" descr="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00" y="3810000"/>
            <a:ext cx="4978400" cy="1644650"/>
          </a:xfrm>
          <a:prstGeom prst="rect">
            <a:avLst/>
          </a:prstGeom>
        </p:spPr>
      </p:pic>
      <p:pic>
        <p:nvPicPr>
          <p:cNvPr id="6" name="Entra 4" descr="b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7200" y="1079500"/>
            <a:ext cx="6096000" cy="1047750"/>
          </a:xfrm>
          <a:prstGeom prst="rect">
            <a:avLst/>
          </a:prstGeom>
        </p:spPr>
      </p:pic>
      <p:pic>
        <p:nvPicPr>
          <p:cNvPr id="7" name="Entra 5" descr="b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7200" y="1422400"/>
            <a:ext cx="5740400" cy="1530350"/>
          </a:xfrm>
          <a:prstGeom prst="rect">
            <a:avLst/>
          </a:prstGeom>
        </p:spPr>
      </p:pic>
      <p:pic>
        <p:nvPicPr>
          <p:cNvPr id="8" name="Entra 6" descr="b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7200" y="2197100"/>
            <a:ext cx="5740400" cy="1530350"/>
          </a:xfrm>
          <a:prstGeom prst="rect">
            <a:avLst/>
          </a:prstGeom>
        </p:spPr>
      </p:pic>
      <p:pic>
        <p:nvPicPr>
          <p:cNvPr id="9" name="Entra 7" descr="b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7200" y="2971800"/>
            <a:ext cx="5740400" cy="1390650"/>
          </a:xfrm>
          <a:prstGeom prst="rect">
            <a:avLst/>
          </a:prstGeom>
        </p:spPr>
      </p:pic>
      <p:pic>
        <p:nvPicPr>
          <p:cNvPr id="10" name="Entra 8" descr="b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7200" y="3835400"/>
            <a:ext cx="5689600" cy="19177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sitiva" descr="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ntra 1" descr="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1092200"/>
            <a:ext cx="5384800" cy="1263650"/>
          </a:xfrm>
          <a:prstGeom prst="rect">
            <a:avLst/>
          </a:prstGeom>
        </p:spPr>
      </p:pic>
      <p:pic>
        <p:nvPicPr>
          <p:cNvPr id="4" name="Entra 2" descr="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" y="2616200"/>
            <a:ext cx="5384800" cy="1397000"/>
          </a:xfrm>
          <a:prstGeom prst="rect">
            <a:avLst/>
          </a:prstGeom>
        </p:spPr>
      </p:pic>
      <p:pic>
        <p:nvPicPr>
          <p:cNvPr id="5" name="Entra 3" descr="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00" y="3810000"/>
            <a:ext cx="4978400" cy="1644650"/>
          </a:xfrm>
          <a:prstGeom prst="rect">
            <a:avLst/>
          </a:prstGeom>
        </p:spPr>
      </p:pic>
      <p:pic>
        <p:nvPicPr>
          <p:cNvPr id="6" name="Entra 5" descr="b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8600" y="1447800"/>
            <a:ext cx="3378200" cy="2260600"/>
          </a:xfrm>
          <a:prstGeom prst="rect">
            <a:avLst/>
          </a:prstGeom>
        </p:spPr>
      </p:pic>
      <p:pic>
        <p:nvPicPr>
          <p:cNvPr id="7" name="Entra 6" descr="b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8600" y="2832100"/>
            <a:ext cx="3378200" cy="2781300"/>
          </a:xfrm>
          <a:prstGeom prst="rect">
            <a:avLst/>
          </a:prstGeom>
        </p:spPr>
      </p:pic>
      <p:pic>
        <p:nvPicPr>
          <p:cNvPr id="8" name="Video embed0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146800" y="1854200"/>
            <a:ext cx="1905000" cy="33909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3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35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sitiva" descr="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sitiva" descr="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sitiva" descr="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Hookia: demo del pitch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